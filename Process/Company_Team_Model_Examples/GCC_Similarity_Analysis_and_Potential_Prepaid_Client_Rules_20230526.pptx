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7" r:id="rId1"/>
  </p:sldMasterIdLst>
  <p:notesMasterIdLst>
    <p:notesMasterId r:id="rId12"/>
  </p:notesMasterIdLst>
  <p:sldIdLst>
    <p:sldId id="264" r:id="rId2"/>
    <p:sldId id="562" r:id="rId3"/>
    <p:sldId id="571" r:id="rId4"/>
    <p:sldId id="567" r:id="rId5"/>
    <p:sldId id="568" r:id="rId6"/>
    <p:sldId id="564" r:id="rId7"/>
    <p:sldId id="566" r:id="rId8"/>
    <p:sldId id="572" r:id="rId9"/>
    <p:sldId id="573" r:id="rId10"/>
    <p:sldId id="267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6" orient="horz" pos="3725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800"/>
    <a:srgbClr val="4C9CFF"/>
    <a:srgbClr val="FF0000"/>
    <a:srgbClr val="051D41"/>
    <a:srgbClr val="00009C"/>
    <a:srgbClr val="0054FF"/>
    <a:srgbClr val="FF84CA"/>
    <a:srgbClr val="FF4847"/>
    <a:srgbClr val="001D44"/>
    <a:srgbClr val="E58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9" autoAdjust="0"/>
    <p:restoredTop sz="93826" autoAdjust="0"/>
  </p:normalViewPr>
  <p:slideViewPr>
    <p:cSldViewPr snapToGrid="0">
      <p:cViewPr varScale="1">
        <p:scale>
          <a:sx n="103" d="100"/>
          <a:sy n="103" d="100"/>
        </p:scale>
        <p:origin x="240" y="72"/>
      </p:cViewPr>
      <p:guideLst>
        <p:guide pos="304"/>
        <p:guide pos="7368"/>
        <p:guide orient="horz" pos="3725"/>
        <p:guide orient="horz" pos="504"/>
        <p:guide orient="horz" pos="5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6" d="100"/>
          <a:sy n="126" d="100"/>
        </p:scale>
        <p:origin x="4784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tags" Target="tags/tag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8FD24-0D4E-FD46-A789-95EF2F919D0A}" type="datetimeFigureOut">
              <a:rPr kumimoji="1" lang="zh-CN" altLang="en-US" smtClean="0"/>
              <a:t>2025/7/25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C011E-DA65-8C44-A980-4DBFABBFAC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598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3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5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8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30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62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95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8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9" algn="l" defTabSz="9142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5944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1823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9666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8319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5721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9629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72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C011E-DA65-8C44-A980-4DBFABBFAC3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74620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开始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4C9798-5279-2341-90DB-63DFB7DC4A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49902" y="1"/>
            <a:ext cx="664210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C24483A-5423-164B-B62E-A45ECDB89916}"/>
              </a:ext>
            </a:extLst>
          </p:cNvPr>
          <p:cNvSpPr txBox="1"/>
          <p:nvPr userDrawn="1"/>
        </p:nvSpPr>
        <p:spPr>
          <a:xfrm>
            <a:off x="482601" y="5894079"/>
            <a:ext cx="151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0" i="0" dirty="0">
                <a:solidFill>
                  <a:schemeClr val="bg2">
                    <a:lumMod val="50000"/>
                  </a:schemeClr>
                </a:solidFill>
                <a:latin typeface="Montserrat Medium" pitchFamily="2" charset="0"/>
                <a:ea typeface="思源黑体 CN Light" panose="020B0300000000000000" pitchFamily="34" charset="-122"/>
              </a:rPr>
              <a:t>MEETSOCIAL.COM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D084B7B0-998B-4949-BE86-6BACDF08A8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21" y="3081241"/>
            <a:ext cx="6145293" cy="687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主标题微软雅黑</a:t>
            </a:r>
            <a:r>
              <a:rPr kumimoji="1" lang="en-US" altLang="zh-CN" dirty="0"/>
              <a:t>Bold 36</a:t>
            </a:r>
            <a:r>
              <a:rPr kumimoji="1" lang="zh-CN" altLang="en-US" dirty="0"/>
              <a:t>号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AA9BDF8-A350-F147-98C2-B530EC03D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3419" y="3858662"/>
            <a:ext cx="5223036" cy="526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副标题思源黑体</a:t>
            </a:r>
            <a:r>
              <a:rPr kumimoji="1" lang="en-US" altLang="zh-CN" dirty="0"/>
              <a:t> Regular 14</a:t>
            </a:r>
            <a:r>
              <a:rPr kumimoji="1" lang="zh-CN" altLang="en-US" dirty="0"/>
              <a:t>号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F99D9D43-7DC2-FA40-9DC0-FC6D3883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2600" y="5652896"/>
            <a:ext cx="915636" cy="264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2021.09.07</a:t>
            </a:r>
            <a:endParaRPr kumimoji="1"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E8D43F8-F7F9-6042-940B-5CD3CA9390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1" y="645893"/>
            <a:ext cx="4148949" cy="175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4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10">
            <a:extLst>
              <a:ext uri="{FF2B5EF4-FFF2-40B4-BE49-F238E27FC236}">
                <a16:creationId xmlns:a16="http://schemas.microsoft.com/office/drawing/2014/main" id="{ECC31F85-8CBF-E642-A077-94D5E6114B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394" y="364826"/>
            <a:ext cx="241222" cy="383118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65E362-2B28-CC4A-B90A-1118C1F0F6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008" y="346509"/>
            <a:ext cx="11123694" cy="453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1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大标题</a:t>
            </a:r>
            <a:r>
              <a:rPr kumimoji="1" lang="en-US" altLang="zh-CN" dirty="0"/>
              <a:t>-</a:t>
            </a:r>
            <a:r>
              <a:rPr kumimoji="1" lang="zh-CN" altLang="en-US" dirty="0"/>
              <a:t>微软雅黑</a:t>
            </a:r>
            <a:r>
              <a:rPr kumimoji="1" lang="en-US" altLang="zh-CN" dirty="0"/>
              <a:t>Bold 26</a:t>
            </a:r>
            <a:r>
              <a:rPr kumimoji="1" lang="zh-CN" altLang="en-US" dirty="0"/>
              <a:t>号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75FBB7-FAAD-574E-BFAB-05759870A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008" y="920931"/>
            <a:ext cx="11123694" cy="4459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副标题</a:t>
            </a:r>
            <a:r>
              <a:rPr kumimoji="1" lang="en-US" altLang="zh-CN" dirty="0"/>
              <a:t>-</a:t>
            </a:r>
            <a:r>
              <a:rPr kumimoji="1" lang="zh-CN" altLang="en-US" dirty="0"/>
              <a:t>微软雅黑</a:t>
            </a:r>
            <a:r>
              <a:rPr kumimoji="1" lang="en-US" altLang="zh-CN" dirty="0"/>
              <a:t>Bold 20</a:t>
            </a:r>
            <a:r>
              <a:rPr kumimoji="1" lang="zh-CN" altLang="en-US" dirty="0"/>
              <a:t>号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B2637502-C72E-E545-BFE5-26F5742514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006" y="1429952"/>
            <a:ext cx="7756526" cy="3077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正文</a:t>
            </a:r>
            <a:r>
              <a:rPr kumimoji="1" lang="en-US" altLang="zh-CN" dirty="0"/>
              <a:t>-</a:t>
            </a:r>
            <a:r>
              <a:rPr kumimoji="1" lang="zh-CN" altLang="en-US" dirty="0"/>
              <a:t>微软雅黑</a:t>
            </a:r>
            <a:r>
              <a:rPr kumimoji="1" lang="en-US" altLang="zh-CN" dirty="0"/>
              <a:t>regular 14</a:t>
            </a:r>
            <a:r>
              <a:rPr kumimoji="1" lang="zh-CN" altLang="en-US" dirty="0"/>
              <a:t>号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4F13618C-0534-5A48-9E3A-BFDD7401F8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3006" y="1813996"/>
            <a:ext cx="7503933" cy="3077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备注</a:t>
            </a:r>
            <a:r>
              <a:rPr kumimoji="1" lang="en-US" altLang="zh-CN" dirty="0"/>
              <a:t>/</a:t>
            </a:r>
            <a:r>
              <a:rPr kumimoji="1" lang="zh-CN" altLang="en-US" dirty="0"/>
              <a:t>次要</a:t>
            </a:r>
            <a:r>
              <a:rPr kumimoji="1" lang="en-US" altLang="zh-CN" dirty="0"/>
              <a:t>-</a:t>
            </a:r>
            <a:r>
              <a:rPr kumimoji="1" lang="zh-CN" altLang="en-US" dirty="0"/>
              <a:t>微软雅黑</a:t>
            </a:r>
            <a:r>
              <a:rPr kumimoji="1" lang="en-US" altLang="zh-CN" dirty="0"/>
              <a:t>regular 12</a:t>
            </a:r>
            <a:r>
              <a:rPr kumimoji="1" lang="zh-CN" altLang="en-US" dirty="0"/>
              <a:t>号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6A759F9-3461-7A44-A7C0-902C247D60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7469"/>
            <a:ext cx="12192000" cy="44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4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柱状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表占位符 13">
            <a:extLst>
              <a:ext uri="{FF2B5EF4-FFF2-40B4-BE49-F238E27FC236}">
                <a16:creationId xmlns:a16="http://schemas.microsoft.com/office/drawing/2014/main" id="{0EA33FA9-8009-AC43-B3CE-75BBAFF9D6C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4952346" y="1272620"/>
            <a:ext cx="6652052" cy="434575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图表标题 微软雅黑</a:t>
            </a:r>
            <a:r>
              <a:rPr kumimoji="1" lang="en-US" altLang="zh-CN" dirty="0"/>
              <a:t>regular18</a:t>
            </a:r>
            <a:r>
              <a:rPr kumimoji="1" lang="zh-CN" altLang="en-US" dirty="0"/>
              <a:t>号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68C80C86-0E91-1042-A94D-788B86B6F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008" y="346509"/>
            <a:ext cx="11123694" cy="453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1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大标题</a:t>
            </a:r>
            <a:r>
              <a:rPr kumimoji="1" lang="en-US" altLang="zh-CN" dirty="0"/>
              <a:t>-</a:t>
            </a:r>
            <a:r>
              <a:rPr kumimoji="1" lang="zh-CN" altLang="en-US" dirty="0"/>
              <a:t>微软雅黑</a:t>
            </a:r>
            <a:r>
              <a:rPr kumimoji="1" lang="en-US" altLang="zh-CN" dirty="0"/>
              <a:t>Bold 26</a:t>
            </a:r>
            <a:r>
              <a:rPr kumimoji="1" lang="zh-CN" altLang="en-US" dirty="0"/>
              <a:t>号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57F2DEB-CE79-F844-AF46-4B486A89EB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7469"/>
            <a:ext cx="12192000" cy="440531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B7394613-A988-48C2-AAC6-8939FB53F4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394" y="364826"/>
            <a:ext cx="241222" cy="38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5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050AA68-ECD3-B145-B65B-712C6D00224C}"/>
              </a:ext>
            </a:extLst>
          </p:cNvPr>
          <p:cNvSpPr txBox="1"/>
          <p:nvPr userDrawn="1"/>
        </p:nvSpPr>
        <p:spPr>
          <a:xfrm>
            <a:off x="3049140" y="2756427"/>
            <a:ext cx="609372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599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0"/>
                <a:ea typeface="Microsoft YaHei" panose="020B0503020204020204" pitchFamily="34" charset="-122"/>
                <a:cs typeface="Poppins Light" panose="02000000000000000000" pitchFamily="2" charset="0"/>
              </a:rPr>
              <a:t>THANKS</a:t>
            </a:r>
            <a:endParaRPr lang="id-ID" altLang="zh-CN" sz="6599" b="1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0"/>
              <a:ea typeface="Microsoft YaHei" panose="020B0503020204020204" pitchFamily="34" charset="-122"/>
              <a:cs typeface="Poppins Light" panose="02000000000000000000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187DEB-91E7-0B43-B8B7-00A93E3D8888}"/>
              </a:ext>
            </a:extLst>
          </p:cNvPr>
          <p:cNvSpPr txBox="1"/>
          <p:nvPr userDrawn="1"/>
        </p:nvSpPr>
        <p:spPr>
          <a:xfrm>
            <a:off x="5076332" y="3725923"/>
            <a:ext cx="203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 Medium" pitchFamily="2" charset="0"/>
                <a:ea typeface="思源黑体 CN Light" panose="020B0300000000000000" pitchFamily="34" charset="-122"/>
              </a:rPr>
              <a:t>meetsocial.com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E3E828-B60F-5B4B-A18C-2E651B73F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93527"/>
            <a:ext cx="12192000" cy="2644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3CC3BAC-9AE9-494C-8058-D728EB3445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457" y="942073"/>
            <a:ext cx="4901088" cy="207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307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83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2" r:id="rId2"/>
    <p:sldLayoutId id="2147483857" r:id="rId3"/>
    <p:sldLayoutId id="2147483910" r:id="rId4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2" pos="7368" userDrawn="1">
          <p15:clr>
            <a:srgbClr val="F26B43"/>
          </p15:clr>
        </p15:guide>
        <p15:guide id="3" orient="horz" pos="4042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504" userDrawn="1">
          <p15:clr>
            <a:srgbClr val="F26B43"/>
          </p15:clr>
        </p15:guide>
        <p15:guide id="6" orient="horz" pos="5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080D899-9744-3D4A-BA07-AAC42B68F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>GCCRisk Control Quantitative Tool – Similarity Analysis</a:t>
            </a:r>
            <a:r>
              <a:rPr kumimoji="1" lang="zh-CN" altLang="en-US" sz="2800" dirty="0">
                <a:latin typeface="+mn-lt"/>
                <a:ea typeface="+mn-ea"/>
                <a:cs typeface="+mn-ea"/>
                <a:sym typeface="+mn-lt"/>
              </a:rPr>
              <a:t/>
            </a:r>
            <a:r>
              <a:rPr kumimoji="1" lang="en-US" altLang="zh-CN" sz="2800" dirty="0">
                <a:latin typeface="+mn-lt"/>
                <a:ea typeface="+mn-ea"/>
                <a:cs typeface="+mn-ea"/>
                <a:sym typeface="+mn-lt"/>
              </a:rPr>
              <a:t/>
            </a:r>
            <a:r>
              <a:rPr kumimoji="1" lang="zh-CN" altLang="en-US" sz="2800" dirty="0">
                <a:latin typeface="+mn-lt"/>
                <a:ea typeface="+mn-ea"/>
                <a:cs typeface="+mn-ea"/>
                <a:sym typeface="+mn-lt"/>
              </a:rPr>
              <a:t/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0C8370-C559-904C-B7EF-FCC63DCEFE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>
                <a:latin typeface="+mn-lt"/>
                <a:ea typeface="+mn-ea"/>
                <a:cs typeface="+mn-ea"/>
                <a:sym typeface="+mn-lt"/>
              </a:rPr>
              <a:t>2023/5/26</a:t>
            </a:r>
            <a:endParaRPr kumimoji="1"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969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30840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Project Background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08" y="1066800"/>
            <a:ext cx="11123694" cy="490836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Background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0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IdentifyHigh-potential、High-survival-rate'sGCCCustomers,Incorporate intoCompanyRisk Assessment System，ProvideCredit Terms、Credit Limits etc.Financial Support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Similarity Analysis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0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Analyze similarity between KA torso customers and GCC top customers to identify high-potential GCC customers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0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Based onSimilarity Analysis，Can Further BuildGCCLong-termRetention Model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Basic Method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0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Clustering Model+ Multi-dimensional Risk Control Verification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086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30840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Basic Conclusions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08" y="1066800"/>
            <a:ext cx="4902241" cy="515112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Customer Scope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Phase 1 analysis target: E-commerce customers</a:t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Basic Conclusions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Through clustering algorithm, customers are divided into 6 clusters. Using payscore, creditscore, compliance rating, and dashboard score to evaluate quality, assigning 3 tiers: Optimal, Sub-optimal, Not Recommended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 err="1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 err="1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b="1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b="1" dirty="0">
              <a:solidFill>
                <a:schemeClr val="accent4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latin typeface="+mn-ea"/>
                <a:cs typeface="+mn-ea"/>
                <a:sym typeface="+mn-lt"/>
              </a:rPr>
              <a:t>Based on factor distribution, determine customer screening rules for each tier</a:t>
            </a:r>
            <a:endParaRPr lang="en-US" altLang="zh-CN" sz="1600" dirty="0"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Conclusion Application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For GCC customers in clustering, reference ratings of "Optimal", "Sub-optimal", "Not Recommended" can be given based on their cluster during prepaid-to-postpaid conversion</a:t>
            </a:r>
            <a:r>
              <a:rPr lang="en-US" altLang="zh-CN" sz="16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For subsequent GCC customers to evaluate, reference ratings of "Optimal", "Sub-optimal", "Not Recommended" can be given based on tier screening rules</a:t>
            </a:r>
            <a:r>
              <a:rPr lang="en-US" altLang="zh-CN" sz="16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b="1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endParaRPr lang="en-US" altLang="zh-CN" sz="1600" dirty="0"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9556D3B-AFBD-D528-4EFF-34DC6D5A0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369" y="1103847"/>
            <a:ext cx="6226843" cy="427783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23D00B8-9DF0-F0FA-0D61-ADFB3CA735BE}"/>
              </a:ext>
            </a:extLst>
          </p:cNvPr>
          <p:cNvSpPr txBox="1"/>
          <p:nvPr/>
        </p:nvSpPr>
        <p:spPr>
          <a:xfrm>
            <a:off x="8046720" y="5584876"/>
            <a:ext cx="2915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4"/>
                </a:solidFill>
              </a:rPr>
              <a:t>Customer Screening Rules by Tier</a:t>
            </a:r>
          </a:p>
        </p:txBody>
      </p:sp>
    </p:spTree>
    <p:extLst>
      <p:ext uri="{BB962C8B-B14F-4D97-AF65-F5344CB8AC3E}">
        <p14:creationId xmlns:p14="http://schemas.microsoft.com/office/powerpoint/2010/main" val="77657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30840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Data Collection and Logic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9410" y="995680"/>
            <a:ext cx="11618994" cy="527304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Data Collection and Feature Logic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Sample Size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D217AA-AA8C-B89C-5444-A7FFAFCDB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69" y="1393777"/>
            <a:ext cx="11183721" cy="24467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CB57EE-181C-3B94-ECD2-51AE33B4C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174" y="4401905"/>
            <a:ext cx="2226346" cy="93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6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30840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Clustering Model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06" y="1066800"/>
            <a:ext cx="5268994" cy="4908369"/>
          </a:xfrm>
        </p:spPr>
        <p:txBody>
          <a:bodyPr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Algorithm Logic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Group customers based on model features; customers within same group are similar, different groups are different</a:t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Clustering Results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Since clustering analysis requires computing similarity distances, factors cannot be null. After removing customers with null model factors, there are 393 customers total: 158 KA and 235 GCC.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After standardizing the 6 model factors, 393 customers are divided into 6 clusters using the K-means algorithm.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FromRisk Rating、Pay Score、Risk Control Dashboard、Violation Rating4 Dimensions Analyzing 6ClusterCustomer Distribution，Cluster 3 Has Best Overall Quality，Followed by Clusters 2 and 4。</a:t>
            </a:r>
            <a:r>
              <a:rPr lang="zh-CN" altLang="en-US" sz="1600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F7A633E-57EB-08DB-90B5-2DA7322BE77A}"/>
              </a:ext>
            </a:extLst>
          </p:cNvPr>
          <p:cNvSpPr txBox="1"/>
          <p:nvPr/>
        </p:nvSpPr>
        <p:spPr>
          <a:xfrm>
            <a:off x="7416803" y="5982088"/>
            <a:ext cx="3949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4"/>
                </a:solidFill>
              </a:rPr>
              <a:t>Clusters 3, 2, 4: Stable spending, higher volume, higher frequency; higher audit pass rate; better ad performance; main region is North America</a:t>
            </a:r>
            <a:r>
              <a:rPr lang="zh-CN" altLang="en-US" sz="1200" dirty="0">
                <a:solidFill>
                  <a:schemeClr val="accent4"/>
                </a:solidFill>
              </a:rPr>
              <a:t/>
            </a:r>
            <a:r>
              <a:rPr lang="en-US" altLang="zh-CN" sz="1200" dirty="0">
                <a:solidFill>
                  <a:schemeClr val="accent4"/>
                </a:solidFill>
              </a:rPr>
              <a:t/>
            </a:r>
            <a:r>
              <a:rPr lang="zh-CN" altLang="en-US" sz="1200" dirty="0">
                <a:solidFill>
                  <a:schemeClr val="accent4"/>
                </a:solidFill>
              </a:rPr>
              <a:t/>
            </a:r>
            <a:r>
              <a:rPr lang="en-US" altLang="zh-CN" sz="1200" dirty="0">
                <a:solidFill>
                  <a:schemeClr val="accent4"/>
                </a:solidFill>
              </a:rPr>
              <a:t/>
            </a:r>
            <a:r>
              <a:rPr lang="zh-CN" altLang="en-US" sz="1200" dirty="0">
                <a:solidFill>
                  <a:schemeClr val="accent4"/>
                </a:solidFill>
              </a:rPr>
              <a:t/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D3FC789-D8FA-4770-47CA-D3084DC0FA48}"/>
              </a:ext>
            </a:extLst>
          </p:cNvPr>
          <p:cNvCxnSpPr>
            <a:cxnSpLocks/>
          </p:cNvCxnSpPr>
          <p:nvPr/>
        </p:nvCxnSpPr>
        <p:spPr>
          <a:xfrm>
            <a:off x="9761772" y="5780155"/>
            <a:ext cx="0" cy="159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7B75021-91D0-8E3B-DCB8-5DEEA180FF1B}"/>
              </a:ext>
            </a:extLst>
          </p:cNvPr>
          <p:cNvCxnSpPr/>
          <p:nvPr/>
        </p:nvCxnSpPr>
        <p:spPr>
          <a:xfrm>
            <a:off x="10778655" y="5795068"/>
            <a:ext cx="0" cy="159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1A70CA3B-940B-EE53-6FC4-071E8D5444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7" t="5529" r="7334" b="5278"/>
          <a:stretch/>
        </p:blipFill>
        <p:spPr>
          <a:xfrm>
            <a:off x="7589520" y="280003"/>
            <a:ext cx="2979044" cy="251021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1BDD2E-D39A-438B-C65F-720AA90E3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145" y="2898744"/>
            <a:ext cx="4489681" cy="2838596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5C05959-921C-F070-823D-583741E3F1AD}"/>
              </a:ext>
            </a:extLst>
          </p:cNvPr>
          <p:cNvCxnSpPr>
            <a:cxnSpLocks/>
          </p:cNvCxnSpPr>
          <p:nvPr/>
        </p:nvCxnSpPr>
        <p:spPr>
          <a:xfrm>
            <a:off x="10290092" y="5790315"/>
            <a:ext cx="0" cy="159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32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30840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Clustering 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06" y="1066801"/>
            <a:ext cx="11123694" cy="35560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Cluster CorrespondingRisk RatingandPay ScoreCustomer Distribution</a:t>
            </a:r>
            <a:r>
              <a:rPr lang="en-US" altLang="zh-CN" sz="1600" b="1" dirty="0">
                <a:latin typeface="+mn-ea"/>
                <a:ea typeface="+mn-ea"/>
                <a:cs typeface="+mn-ea"/>
                <a:sym typeface="+mn-lt"/>
              </a:rPr>
              <a:t/>
            </a: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/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48BE8F-4476-7327-CB20-7B6342C169BD}"/>
              </a:ext>
            </a:extLst>
          </p:cNvPr>
          <p:cNvSpPr txBox="1"/>
          <p:nvPr/>
        </p:nvSpPr>
        <p:spPr>
          <a:xfrm>
            <a:off x="274320" y="4549265"/>
            <a:ext cx="5049520" cy="1621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>Risk Rating1、2、3isBetter Customers</a:t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>Customers in Clusters 3, 2, 4，Risk Ratingis1、2、3'sHigher Proportion，OverallRisk RatingBetter</a:t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>Belonging toCluster3、2、4'sGCCCustomers,Have HigherProbabilityisBetter Customers。Can DefineCluster3Defined as“Optimal”，Cluster2、4Defined as“Sub-optimal” ，OtherClusterDefined as“Not Recommended”</a:t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055D07-0E59-1965-B633-AB599032E112}"/>
              </a:ext>
            </a:extLst>
          </p:cNvPr>
          <p:cNvSpPr txBox="1"/>
          <p:nvPr/>
        </p:nvSpPr>
        <p:spPr>
          <a:xfrm>
            <a:off x="6024880" y="4549264"/>
            <a:ext cx="5049520" cy="1621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>Pay Score segments 1, 2, 3 indicate better customers</a:t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>Customers in clusters 3, 2, 4 have higher proportion in Pay Score segments 1, 2, 3 with better overall Pay Scores</a:t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>Belonging toCluster3、2、4'sGCCCustomers,Have HigherProbabilityisBetter Customers。Can DefineCluster3Defined as“Optimal”，Cluster2、4Defined as“Sub-optimal” ，OtherClusterDefined as“Not Recommended”</a:t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EF3DD1-53BC-3039-9BAD-C4C44C3CA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27200"/>
            <a:ext cx="11646683" cy="244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7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26776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Clustering Results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06" y="1066801"/>
            <a:ext cx="11123694" cy="35560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Violation Rating and Risk Dashboard Rating Customer Distribution by Cluster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48BE8F-4476-7327-CB20-7B6342C169BD}"/>
              </a:ext>
            </a:extLst>
          </p:cNvPr>
          <p:cNvSpPr txBox="1"/>
          <p:nvPr/>
        </p:nvSpPr>
        <p:spPr>
          <a:xfrm>
            <a:off x="8821420" y="4443217"/>
            <a:ext cx="2425700" cy="587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>Risk dashboard currently has too few rated customers; temporarily not used as reference</a:t>
            </a:r>
            <a:endParaRPr lang="en-US" altLang="zh-CN" sz="1400" dirty="0">
              <a:solidFill>
                <a:schemeClr val="tx2"/>
              </a:solidFill>
              <a:latin typeface="+mn-ea"/>
              <a:cs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055D07-0E59-1965-B633-AB599032E112}"/>
              </a:ext>
            </a:extLst>
          </p:cNvPr>
          <p:cNvSpPr txBox="1"/>
          <p:nvPr/>
        </p:nvSpPr>
        <p:spPr>
          <a:xfrm>
            <a:off x="281940" y="4443217"/>
            <a:ext cx="7907020" cy="1363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>Violation RatingIn“No Violation”、“Minor Violation”and“Moderate Violation”（Level Code0、1、2）'sisBetter Customers</a:t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>Customers in Clusters 3, 2, 4，Violation Ratingis“No Violation”、“Minor Violation”and“Moderate Violation”'sHigher Proportion，OverallViolation RatingBetter</a:t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tx2"/>
                </a:solidFill>
                <a:latin typeface="+mn-ea"/>
                <a:cs typeface="+mn-ea"/>
              </a:rPr>
              <a:t/>
            </a:r>
            <a:endParaRPr lang="en-US" altLang="zh-CN" sz="1400" dirty="0">
              <a:solidFill>
                <a:schemeClr val="tx2"/>
              </a:solidFill>
              <a:latin typeface="+mn-ea"/>
              <a:cs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>Belonging toCluster3、2、4'sGCCCustomers,Have HigherProbabilityisBetter Customers。Can DefineCluster3Defined as“Optimal”，Cluster2、4Defined as“Sub-optimal”，OtherClusterDefined as“Not Recommended”</a:t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en-US" altLang="zh-CN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  <a:r>
              <a:rPr lang="zh-CN" altLang="en-US" sz="1400" dirty="0">
                <a:solidFill>
                  <a:schemeClr val="accent4"/>
                </a:solidFill>
                <a:latin typeface="+mn-ea"/>
                <a:cs typeface="+mn-ea"/>
              </a:rPr>
              <a:t/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07614B-D924-2D15-26A2-084FFFA9E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" y="1687197"/>
            <a:ext cx="11816080" cy="23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0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26776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Customer Screening Rules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54232" y="721361"/>
            <a:ext cx="5398000" cy="5406857"/>
          </a:xfrm>
        </p:spPr>
        <p:txBody>
          <a:bodyPr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Analysis Objective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As mentioned above, evaluate customer quality across 6 clusters from 4 dimensions: risk rating, Pay Score, risk control dashboard, violation rating, assigning tiers: Optimal, Sub-optimal, Not Recommended</a:t>
            </a:r>
            <a:r>
              <a:rPr lang="zh-CN" altLang="en-US" sz="1600" dirty="0"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accent4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latin typeface="+mn-ea"/>
                <a:cs typeface="+mn-ea"/>
                <a:sym typeface="+mn-lt"/>
              </a:rPr>
              <a:t>Based on feature distribution, determine common characteristics of each tier and output judgment rules for potential prepaid customers</a:t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Feature Selection Results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6 Features with Significant Tier Differentiation Selected as Rule Indicators:</a:t>
            </a:r>
            <a:r>
              <a:rPr lang="en-US" altLang="zh-CN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+mn-ea"/>
                <a:ea typeface="+mn-ea"/>
                <a:cs typeface="+mn-ea"/>
                <a:sym typeface="+mn-lt"/>
              </a:rPr>
              <a:t>Monthly Average Spending</a:t>
            </a:r>
            <a:endParaRPr lang="en-US" altLang="zh-CN" sz="1200" dirty="0">
              <a:solidFill>
                <a:schemeClr val="tx2"/>
              </a:solidFill>
              <a:latin typeface="+mn-ea"/>
              <a:ea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Spending Frequency in Last Year</a:t>
            </a:r>
            <a:r>
              <a:rPr lang="en-US" altLang="zh-CN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2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+mn-ea"/>
                <a:ea typeface="+mn-ea"/>
                <a:cs typeface="+mn-ea"/>
                <a:sym typeface="+mn-lt"/>
              </a:rPr>
              <a:t>Spending Coefficient of Variation in Last Year</a:t>
            </a:r>
            <a:r>
              <a:rPr lang="en-US" altLang="zh-CN" sz="1200" dirty="0">
                <a:solidFill>
                  <a:schemeClr val="tx2"/>
                </a:solidFill>
                <a:latin typeface="+mn-ea"/>
                <a:ea typeface="+mn-ea"/>
                <a:cs typeface="+mn-ea"/>
                <a:sym typeface="+mn-lt"/>
              </a:rPr>
              <a:t/>
            </a:r>
            <a:r>
              <a:rPr lang="zh-CN" altLang="en-US" sz="1200" dirty="0">
                <a:solidFill>
                  <a:schemeClr val="tx2"/>
                </a:solidFill>
                <a:latin typeface="+mn-ea"/>
                <a:ea typeface="+mn-ea"/>
                <a:cs typeface="+mn-ea"/>
                <a:sym typeface="+mn-lt"/>
              </a:rPr>
              <a:t/>
            </a:r>
            <a:endParaRPr lang="en-US" altLang="zh-CN" sz="1200" dirty="0">
              <a:solidFill>
                <a:schemeClr val="tx2"/>
              </a:solidFill>
              <a:latin typeface="+mn-ea"/>
              <a:ea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Last 6 Months Spending as % of Last 12 Months</a:t>
            </a:r>
            <a:r>
              <a:rPr lang="en-US" altLang="zh-CN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en-US" altLang="zh-CN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2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en-US" altLang="zh-CN" sz="1200" dirty="0">
                <a:solidFill>
                  <a:schemeClr val="tx2"/>
                </a:solidFill>
                <a:latin typeface="+mn-ea"/>
                <a:ea typeface="+mn-ea"/>
                <a:cs typeface="+mn-ea"/>
                <a:sym typeface="+mn-lt"/>
              </a:rPr>
              <a:t>ROAS</a:t>
            </a:r>
          </a:p>
          <a:p>
            <a:pPr marL="1428636" lvl="2" indent="-285750">
              <a:lnSpc>
                <a:spcPct val="120000"/>
              </a:lnSpc>
            </a:pPr>
            <a:r>
              <a:rPr lang="en-US" altLang="zh-CN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>TOP1 Region (region as categorical variable, not shown in left-side box plot)</a:t>
            </a:r>
            <a:r>
              <a:rPr lang="zh-CN" altLang="en-US" sz="1200" dirty="0">
                <a:solidFill>
                  <a:schemeClr val="tx2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200" dirty="0">
              <a:solidFill>
                <a:schemeClr val="tx2"/>
              </a:solidFill>
              <a:latin typeface="+mn-ea"/>
              <a:cs typeface="+mn-ea"/>
              <a:sym typeface="+mn-lt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Rule results and conclusion application: see "Basic Conclusions" page above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A87D948-D8BD-FF94-1D0A-E865B51D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69" y="867213"/>
            <a:ext cx="5726192" cy="540685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2FAA6AD-32BF-F6A1-86F4-A39992401AB3}"/>
              </a:ext>
            </a:extLst>
          </p:cNvPr>
          <p:cNvSpPr txBox="1"/>
          <p:nvPr/>
        </p:nvSpPr>
        <p:spPr>
          <a:xfrm>
            <a:off x="4618751" y="5337273"/>
            <a:ext cx="1792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4"/>
                </a:solidFill>
              </a:rPr>
              <a:t>Main Feature Distribution</a:t>
            </a:r>
          </a:p>
        </p:txBody>
      </p:sp>
      <p:sp>
        <p:nvSpPr>
          <p:cNvPr id="5" name="心形 4">
            <a:extLst>
              <a:ext uri="{FF2B5EF4-FFF2-40B4-BE49-F238E27FC236}">
                <a16:creationId xmlns:a16="http://schemas.microsoft.com/office/drawing/2014/main" id="{404ECA5F-C82B-59AE-9BE3-45AD026E38E7}"/>
              </a:ext>
            </a:extLst>
          </p:cNvPr>
          <p:cNvSpPr/>
          <p:nvPr/>
        </p:nvSpPr>
        <p:spPr>
          <a:xfrm>
            <a:off x="3769360" y="1632149"/>
            <a:ext cx="477520" cy="396240"/>
          </a:xfrm>
          <a:prstGeom prst="hear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心形 7">
            <a:extLst>
              <a:ext uri="{FF2B5EF4-FFF2-40B4-BE49-F238E27FC236}">
                <a16:creationId xmlns:a16="http://schemas.microsoft.com/office/drawing/2014/main" id="{ECAFEBE0-5CBC-753B-5679-71A67EE99FA8}"/>
              </a:ext>
            </a:extLst>
          </p:cNvPr>
          <p:cNvSpPr/>
          <p:nvPr/>
        </p:nvSpPr>
        <p:spPr>
          <a:xfrm>
            <a:off x="2590800" y="2989379"/>
            <a:ext cx="477520" cy="396240"/>
          </a:xfrm>
          <a:prstGeom prst="hear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1" name="心形 10">
            <a:extLst>
              <a:ext uri="{FF2B5EF4-FFF2-40B4-BE49-F238E27FC236}">
                <a16:creationId xmlns:a16="http://schemas.microsoft.com/office/drawing/2014/main" id="{18E07B28-5FA6-B835-DCEB-AB55E18A1A23}"/>
              </a:ext>
            </a:extLst>
          </p:cNvPr>
          <p:cNvSpPr/>
          <p:nvPr/>
        </p:nvSpPr>
        <p:spPr>
          <a:xfrm>
            <a:off x="690880" y="2402073"/>
            <a:ext cx="477520" cy="396240"/>
          </a:xfrm>
          <a:prstGeom prst="hear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2" name="心形 11">
            <a:extLst>
              <a:ext uri="{FF2B5EF4-FFF2-40B4-BE49-F238E27FC236}">
                <a16:creationId xmlns:a16="http://schemas.microsoft.com/office/drawing/2014/main" id="{5956D6EB-7EC1-31F0-1E58-01F6FD8FBB12}"/>
              </a:ext>
            </a:extLst>
          </p:cNvPr>
          <p:cNvSpPr/>
          <p:nvPr/>
        </p:nvSpPr>
        <p:spPr>
          <a:xfrm>
            <a:off x="1859280" y="5110310"/>
            <a:ext cx="477520" cy="396240"/>
          </a:xfrm>
          <a:prstGeom prst="hear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心形 12">
            <a:extLst>
              <a:ext uri="{FF2B5EF4-FFF2-40B4-BE49-F238E27FC236}">
                <a16:creationId xmlns:a16="http://schemas.microsoft.com/office/drawing/2014/main" id="{59DC7482-1936-F62A-3B6B-FDCBA16857DA}"/>
              </a:ext>
            </a:extLst>
          </p:cNvPr>
          <p:cNvSpPr/>
          <p:nvPr/>
        </p:nvSpPr>
        <p:spPr>
          <a:xfrm>
            <a:off x="3743960" y="5113921"/>
            <a:ext cx="477520" cy="396240"/>
          </a:xfrm>
          <a:prstGeom prst="hear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351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811DB62-9455-0449-AE25-B07C287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08" y="267769"/>
            <a:ext cx="11123694" cy="45359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Rule Validation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7C8388D-72E8-0249-92BD-E082F61342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3006" y="1066801"/>
            <a:ext cx="4009154" cy="453592"/>
          </a:xfrm>
        </p:spPr>
        <p:txBody>
          <a:bodyPr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+mn-ea"/>
                <a:ea typeface="+mn-ea"/>
                <a:cs typeface="+mn-ea"/>
                <a:sym typeface="+mn-lt"/>
              </a:rPr>
              <a:t>Validation Details</a:t>
            </a: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latin typeface="+mn-ea"/>
                <a:cs typeface="+mn-ea"/>
                <a:sym typeface="+mn-lt"/>
              </a:rPr>
              <a:t>E-commerce customers in clustering: quantity distribution and risk rating / PayScore rating distribution after rule screening</a:t>
            </a:r>
            <a:r>
              <a:rPr lang="en-US" altLang="zh-CN" sz="1600" dirty="0" err="1"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>Across Optimal, Sub-optimal, and Not Recommended groups, risk ratings and PayScore ratings show a good-to-poor progression, as expected</a:t>
            </a:r>
            <a:r>
              <a:rPr lang="en-US" altLang="zh-CN" sz="1600" dirty="0" err="1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r>
              <a:rPr lang="zh-CN" altLang="en-US" sz="1600" dirty="0">
                <a:solidFill>
                  <a:schemeClr val="accent4"/>
                </a:solidFill>
                <a:latin typeface="+mn-ea"/>
                <a:cs typeface="+mn-ea"/>
                <a:sym typeface="+mn-lt"/>
              </a:rPr>
              <a:t/>
            </a:r>
            <a:endParaRPr lang="en-US" altLang="zh-CN" sz="1600" dirty="0">
              <a:solidFill>
                <a:schemeClr val="accent4"/>
              </a:solidFill>
              <a:latin typeface="+mn-ea"/>
              <a:cs typeface="+mn-ea"/>
              <a:sym typeface="+mn-lt"/>
            </a:endParaRPr>
          </a:p>
          <a:p>
            <a:pPr marL="971481" lvl="1" indent="-285750">
              <a:lnSpc>
                <a:spcPct val="120000"/>
              </a:lnSpc>
            </a:pPr>
            <a:r>
              <a:rPr lang="zh-CN" altLang="en-US" sz="1600" dirty="0">
                <a:latin typeface="+mn-ea"/>
                <a:cs typeface="+mn-ea"/>
                <a:sym typeface="+mn-lt"/>
              </a:rPr>
              <a:t>Note:</a:t>
            </a:r>
            <a:endParaRPr lang="en-US" altLang="zh-CN" sz="1600" dirty="0"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zh-CN" altLang="en-US" sz="1200" dirty="0">
                <a:latin typeface="+mn-ea"/>
                <a:cs typeface="+mn-ea"/>
                <a:sym typeface="+mn-lt"/>
              </a:rPr>
              <a:t>InOptimalCustomer Group，Have2Risk Ratingis4'sCustomers,Sample LabelsAllIsGood Samples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/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/>
            </a:r>
            <a:endParaRPr lang="en-US" altLang="zh-CN" sz="1200" dirty="0"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endParaRPr lang="en-US" altLang="zh-CN" sz="1200" dirty="0">
              <a:solidFill>
                <a:schemeClr val="accent4"/>
              </a:solidFill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endParaRPr lang="en-US" altLang="zh-CN" sz="1200" dirty="0">
              <a:solidFill>
                <a:schemeClr val="accent4"/>
              </a:solidFill>
              <a:latin typeface="+mn-ea"/>
              <a:cs typeface="+mn-ea"/>
              <a:sym typeface="+mn-lt"/>
            </a:endParaRPr>
          </a:p>
          <a:p>
            <a:pPr marL="1428636" lvl="2" indent="-285750">
              <a:lnSpc>
                <a:spcPct val="120000"/>
              </a:lnSpc>
            </a:pPr>
            <a:r>
              <a:rPr lang="zh-CN" altLang="en-US" sz="1200" dirty="0">
                <a:latin typeface="+mn-ea"/>
                <a:cs typeface="+mn-ea"/>
                <a:sym typeface="+mn-lt"/>
              </a:rPr>
              <a:t>InSub-optimalCustomer Group，Have1Risk Ratingis5Customers,isHangzhou Qijian，isBad Customer。Credit Review Confirmed, QijianDefault ReasonMainlyInvestment Failure，Spending and other metrics atUpper-middle Level。</a:t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/>
            </a:r>
            <a:r>
              <a:rPr lang="en-US" altLang="zh-CN" sz="1200" dirty="0">
                <a:latin typeface="+mn-ea"/>
                <a:cs typeface="+mn-ea"/>
                <a:sym typeface="+mn-lt"/>
              </a:rPr>
              <a:t/>
            </a:r>
            <a:r>
              <a:rPr lang="zh-CN" altLang="en-US" sz="1200" dirty="0">
                <a:latin typeface="+mn-ea"/>
                <a:cs typeface="+mn-ea"/>
                <a:sym typeface="+mn-lt"/>
              </a:rPr>
              <a:t/>
            </a:r>
            <a:endParaRPr lang="en-US" altLang="zh-CN" sz="1200" dirty="0">
              <a:latin typeface="+mn-ea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E3FDAA-B741-F28A-D3F4-695E069DF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192" y="1033410"/>
            <a:ext cx="6551203" cy="47911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9CD1432-6A43-CD62-5B50-4DEE92F7C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041" y="5933800"/>
            <a:ext cx="2457576" cy="33021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941B4D7-265C-B48B-4666-CE40F2C53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3990" y="4226973"/>
            <a:ext cx="2476627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1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6534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meetsocial 集团">
      <a:dk1>
        <a:srgbClr val="000000"/>
      </a:dk1>
      <a:lt1>
        <a:srgbClr val="FFFFFF"/>
      </a:lt1>
      <a:dk2>
        <a:srgbClr val="050F49"/>
      </a:dk2>
      <a:lt2>
        <a:srgbClr val="E6E6E6"/>
      </a:lt2>
      <a:accent1>
        <a:srgbClr val="0078FF"/>
      </a:accent1>
      <a:accent2>
        <a:srgbClr val="FF0000"/>
      </a:accent2>
      <a:accent3>
        <a:srgbClr val="FF58BD"/>
      </a:accent3>
      <a:accent4>
        <a:srgbClr val="273CFF"/>
      </a:accent4>
      <a:accent5>
        <a:srgbClr val="FF7800"/>
      </a:accent5>
      <a:accent6>
        <a:srgbClr val="00BDD7"/>
      </a:accent6>
      <a:hlink>
        <a:srgbClr val="9900FF"/>
      </a:hlink>
      <a:folHlink>
        <a:srgbClr val="00FFA0"/>
      </a:folHlink>
    </a:clrScheme>
    <a:fontScheme name="jpqd1l5m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54203</TotalTime>
  <Words>966</Words>
  <Application>Microsoft Office PowerPoint</Application>
  <PresentationFormat>宽屏</PresentationFormat>
  <Paragraphs>84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Microsoft YaHei</vt:lpstr>
      <vt:lpstr>Arial</vt:lpstr>
      <vt:lpstr>Montserrat</vt:lpstr>
      <vt:lpstr>Montserrat Medium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shuqi.yang</dc:creator>
  <cp:lastModifiedBy>Fergie, Yang Yishu</cp:lastModifiedBy>
  <cp:revision>589</cp:revision>
  <dcterms:created xsi:type="dcterms:W3CDTF">2021-06-24T02:47:19Z</dcterms:created>
  <dcterms:modified xsi:type="dcterms:W3CDTF">2025-07-25T02:32:32Z</dcterms:modified>
</cp:coreProperties>
</file>